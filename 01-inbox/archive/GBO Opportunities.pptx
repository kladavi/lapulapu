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EDC578-23D6-41C2-A51B-2A92851698D2}" v="6" dt="2026-05-28T23:47:57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8E5CA-657B-D9C5-9D07-7E6645B34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86B8DC-C913-00F9-6CDC-E79F609B0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CEE0E-A7BF-D545-82EF-A73A2C15B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2F77-7449-4904-AB67-1D2886BD7E40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BE722-FAB7-299C-F013-FDDDBECFD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EC1F3-29C1-2C5B-CD53-2579B786F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95AD-1139-4F21-AB49-45769329EA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9712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72713-2C35-6666-3F67-2A6EC9B3E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DA37A-7AC1-AB40-4AB1-2896264D4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7F9A8-E35E-AED4-130C-8F1BC66B6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2F77-7449-4904-AB67-1D2886BD7E40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355FF-385B-67C2-BF2D-16D5BBF1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B47E7-06FD-E670-4FAF-71BF3CCD4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95AD-1139-4F21-AB49-45769329EA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506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622A-C340-5081-4329-A2285AFC8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F6391-8E07-87F1-19D6-6894A5A0F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3E5CC-DDA3-9644-F518-C8BF5040B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2F77-7449-4904-AB67-1D2886BD7E40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130AF-3D15-19C8-1A0B-FFD4EE40D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395B5-B5BF-8271-2CDA-06FC561F7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95AD-1139-4F21-AB49-45769329EA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1147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44318-7C16-251A-4BAF-E81DB5AD2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0B1D2-4C83-A4B1-8202-5719EC9A2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FE2D66-6142-EE7A-D834-721F00B49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DD9341-D9B4-DF6F-7AAC-0F18AD516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2F77-7449-4904-AB67-1D2886BD7E40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AFE3-FB65-B90C-0764-127C2E691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B504D-2AE0-B04F-D6A1-567E19C27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95AD-1139-4F21-AB49-45769329EA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0403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40629-CAF5-AE9B-F8D2-DEF8E40FB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24898-3103-164D-B10C-839E7A3B3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6AF35-0BB0-CEE4-7415-95F22FFB2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A727E-8DCA-B01A-AD6F-7633EF089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E2950C-61AE-A202-4EBB-E344AAB28E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7D851A-5BE6-5F00-8DEA-BEA0B187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2F77-7449-4904-AB67-1D2886BD7E40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37A04-61D3-92C6-5429-469B6C05B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EBFA7B-40F0-EB89-A21F-BB82C412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95AD-1139-4F21-AB49-45769329EA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495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46999-DC76-F7BB-45D1-EBE8B24B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10D674-4C97-BB2D-3B20-E81DEDFF9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2F77-7449-4904-AB67-1D2886BD7E40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8C3A9B-C98D-136A-F2FC-A83A1DFC7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A41E02-C086-8FCD-8404-A9A08B26C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95AD-1139-4F21-AB49-45769329EA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9594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BEAE60-264D-1C53-575A-71000243C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2F77-7449-4904-AB67-1D2886BD7E40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282C26-ADD1-08C4-A753-F3AF7BA5E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F8806-0B8F-7D73-D598-5E7CF4C3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95AD-1139-4F21-AB49-45769329EA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914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6D7A7-208D-2E9A-D670-2FDD01A54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B5997-E292-2518-DEF1-E7BBAA879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FAA84A-3D08-6988-8234-CD5F503FF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3AE3B-5DDA-4C92-B932-8DFA59676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2F77-7449-4904-AB67-1D2886BD7E40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EB328-D1D2-E644-CED6-C38E84BF1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472D8-8DC5-9F4B-E427-39D259C38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95AD-1139-4F21-AB49-45769329EA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892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3C835-10DA-660C-9EDC-B855E16DA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9565D-24BF-3B52-DA2F-DF7F272227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F4FA50-8C80-E74F-3301-260D119E5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B37AF-9345-2C3E-0C93-265C23C1F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2F77-7449-4904-AB67-1D2886BD7E40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1BCA9-0193-524A-8CFB-C195C552F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E5656-5D22-A2E9-39E8-58547D12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95AD-1139-4F21-AB49-45769329EA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8409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637C-2391-B58A-68CE-E34590D07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E4B45-A2CA-976C-DC0D-35A17FB91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CBC5C-2C3A-E468-8BA9-C3A43C501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2F77-7449-4904-AB67-1D2886BD7E40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091D2-6AE9-6FC1-A4CA-B58B7A34E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B5E85-4A11-440F-0E99-5CE483ED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95AD-1139-4F21-AB49-45769329EA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769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CD80B5-35F2-283B-425A-8863C4C4DC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20CFC6-6E59-0ECD-5FFE-A9F896BC7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C10AC-E165-C749-065D-0A472968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2F77-7449-4904-AB67-1D2886BD7E40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B4E4B-93DE-9A95-C740-10BEB2A6D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1D268-54B0-9FA5-2D08-8BF57A730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95AD-1139-4F21-AB49-45769329EA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359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E40DD7-D25F-06B1-DCF2-DF4126708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7B2ED-B58F-8AD1-6ED5-F218397CD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531BC-7260-DABD-BD34-C25024C5B6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382F77-7449-4904-AB67-1D2886BD7E40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9FD66-45DB-F476-BA3A-2B2E5700B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10998-D1E8-F04B-54DA-B340F8C92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495AD-1139-4F21-AB49-45769329EAE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4746E5-A1DF-52CF-4F43-D4A6C70872E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71337" y="6672580"/>
            <a:ext cx="4699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272629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5A28BB-D8E9-4914-4026-0A0FB4DE2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MLJ 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D67515-5378-48BB-13CB-5324EAD0D9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Batch Operations</a:t>
            </a:r>
          </a:p>
          <a:p>
            <a:r>
              <a:rPr lang="en-GB" dirty="0"/>
              <a:t>File Transfers used</a:t>
            </a:r>
          </a:p>
          <a:p>
            <a:pPr lvl="1"/>
            <a:r>
              <a:rPr lang="en-GB" dirty="0"/>
              <a:t>SFTP</a:t>
            </a:r>
          </a:p>
          <a:p>
            <a:pPr lvl="1"/>
            <a:r>
              <a:rPr lang="en-GB" dirty="0"/>
              <a:t>RSYNC</a:t>
            </a:r>
          </a:p>
          <a:p>
            <a:pPr lvl="1"/>
            <a:r>
              <a:rPr lang="en-GB" dirty="0"/>
              <a:t>HULFT</a:t>
            </a:r>
          </a:p>
          <a:p>
            <a:pPr lvl="1"/>
            <a:r>
              <a:rPr lang="en-GB" dirty="0"/>
              <a:t>MFT</a:t>
            </a:r>
          </a:p>
          <a:p>
            <a:pPr marL="0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009E0-A24A-67F8-ADC8-59265E16C6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IS Managed Service Contracts</a:t>
            </a:r>
          </a:p>
          <a:p>
            <a:pPr lvl="1"/>
            <a:r>
              <a:rPr lang="en-GB" dirty="0"/>
              <a:t>Total ~1000 contractors</a:t>
            </a:r>
          </a:p>
          <a:p>
            <a:pPr lvl="1"/>
            <a:r>
              <a:rPr lang="en-GB" dirty="0"/>
              <a:t>Cognizant (CTS)</a:t>
            </a:r>
          </a:p>
          <a:p>
            <a:pPr lvl="2"/>
            <a:r>
              <a:rPr lang="en-GB" dirty="0"/>
              <a:t>Dev + Ops - PAS Systems</a:t>
            </a:r>
          </a:p>
          <a:p>
            <a:pPr lvl="1"/>
            <a:r>
              <a:rPr lang="en-GB" dirty="0"/>
              <a:t>Tech Mahindra</a:t>
            </a:r>
          </a:p>
          <a:p>
            <a:pPr lvl="2"/>
            <a:r>
              <a:rPr lang="en-GB" dirty="0"/>
              <a:t>Dev - Non-PAS Systems</a:t>
            </a:r>
          </a:p>
          <a:p>
            <a:pPr lvl="1"/>
            <a:r>
              <a:rPr lang="en-GB" dirty="0" err="1"/>
              <a:t>GienTech</a:t>
            </a:r>
            <a:r>
              <a:rPr lang="en-GB" dirty="0"/>
              <a:t> -&gt; New Vendor  Q3 2026</a:t>
            </a:r>
          </a:p>
          <a:p>
            <a:pPr lvl="2"/>
            <a:r>
              <a:rPr lang="en-GB" dirty="0"/>
              <a:t>Ops - Non-PAS Systems</a:t>
            </a:r>
          </a:p>
          <a:p>
            <a:pPr lvl="2"/>
            <a:r>
              <a:rPr lang="en-GB" dirty="0"/>
              <a:t>Ops – Batch</a:t>
            </a:r>
          </a:p>
          <a:p>
            <a:pPr lvl="2"/>
            <a:r>
              <a:rPr lang="en-GB" dirty="0"/>
              <a:t>Ops - ITSM</a:t>
            </a:r>
          </a:p>
        </p:txBody>
      </p:sp>
    </p:spTree>
    <p:extLst>
      <p:ext uri="{BB962C8B-B14F-4D97-AF65-F5344CB8AC3E}">
        <p14:creationId xmlns:p14="http://schemas.microsoft.com/office/powerpoint/2010/main" val="3961284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FF351D-8C34-4B45-B641-33B19D5FA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Scheduled Jobs Operations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7D3833-02ED-CF62-8E25-BF7C2B02E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Production CA Batch Operations</a:t>
            </a:r>
          </a:p>
          <a:p>
            <a:pPr lvl="1"/>
            <a:r>
              <a:rPr lang="en-GB" dirty="0"/>
              <a:t>Run by Batch operations (~5 Perm + </a:t>
            </a:r>
            <a:r>
              <a:rPr lang="en-GB" dirty="0" err="1"/>
              <a:t>Gientech</a:t>
            </a:r>
            <a:r>
              <a:rPr lang="en-GB" dirty="0"/>
              <a:t>)</a:t>
            </a:r>
          </a:p>
          <a:p>
            <a:r>
              <a:rPr lang="en-GB" dirty="0"/>
              <a:t>Non-Production CA Batch Operations</a:t>
            </a:r>
          </a:p>
          <a:p>
            <a:pPr lvl="1"/>
            <a:r>
              <a:rPr lang="en-GB" dirty="0"/>
              <a:t>Production Support (likely </a:t>
            </a:r>
            <a:r>
              <a:rPr lang="en-GB" dirty="0" err="1"/>
              <a:t>GienTech</a:t>
            </a:r>
            <a:r>
              <a:rPr lang="en-GB" dirty="0"/>
              <a:t> but different team from above)</a:t>
            </a:r>
          </a:p>
          <a:p>
            <a:pPr lvl="1"/>
            <a:r>
              <a:rPr lang="en-GB" dirty="0"/>
              <a:t>AQA Team (Cognizant, </a:t>
            </a:r>
            <a:r>
              <a:rPr lang="en-GB" dirty="0" err="1"/>
              <a:t>TechMahindra</a:t>
            </a:r>
            <a:r>
              <a:rPr lang="en-GB" dirty="0"/>
              <a:t>)</a:t>
            </a:r>
          </a:p>
          <a:p>
            <a:r>
              <a:rPr lang="en-GB" dirty="0"/>
              <a:t>Scheduled jobs (e.g. Visual Cobol Jobs)</a:t>
            </a:r>
          </a:p>
          <a:p>
            <a:pPr lvl="1"/>
            <a:r>
              <a:rPr lang="en-GB" dirty="0"/>
              <a:t>Cognizant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7950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F9E76C-F523-BD35-D3CE-4BD1C16FB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Constraints and Opportunities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98EC7-BFD3-DD18-ADD1-5EDEC242F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Constraints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5DF5CF-E234-9AD1-7814-8C05DA0BA0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 err="1"/>
              <a:t>GienTech</a:t>
            </a:r>
            <a:r>
              <a:rPr lang="en-GB" dirty="0"/>
              <a:t> contract transition</a:t>
            </a:r>
          </a:p>
          <a:p>
            <a:pPr lvl="1"/>
            <a:r>
              <a:rPr lang="en-GB" dirty="0"/>
              <a:t>Staff will be tied up with change</a:t>
            </a:r>
          </a:p>
          <a:p>
            <a:r>
              <a:rPr lang="en-GB" dirty="0"/>
              <a:t>Fixed bid IS Contract</a:t>
            </a:r>
          </a:p>
          <a:p>
            <a:pPr lvl="1"/>
            <a:r>
              <a:rPr lang="en-GB" dirty="0"/>
              <a:t>Savings will be indirect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0001C2-A5AA-C664-59F6-14199C40A7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Opportunities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308C6FF-362D-B2E0-174D-31FF3731A28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IS contracts ramp down</a:t>
            </a:r>
          </a:p>
          <a:p>
            <a:pPr lvl="1"/>
            <a:r>
              <a:rPr lang="en-GB" dirty="0"/>
              <a:t>GBO or GOCC transition will help</a:t>
            </a:r>
          </a:p>
          <a:p>
            <a:r>
              <a:rPr lang="en-GB" dirty="0"/>
              <a:t>KLO reduction – IS team need to increase build ratio</a:t>
            </a:r>
          </a:p>
          <a:p>
            <a:r>
              <a:rPr lang="en-GB" dirty="0"/>
              <a:t>Service Improvement via GOCC and GBO</a:t>
            </a:r>
          </a:p>
          <a:p>
            <a:r>
              <a:rPr lang="en-GB" dirty="0"/>
              <a:t>Adding CA to ADX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0864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1457</TotalTime>
  <Words>155</Words>
  <Application>Microsoft Office PowerPoint</Application>
  <PresentationFormat>Widescreen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MLJ Overview</vt:lpstr>
      <vt:lpstr>Scheduled Jobs Operations</vt:lpstr>
      <vt:lpstr>Constraints and Opportunities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Birger Fjaellman （フィエルマン ビルイェル）</dc:creator>
  <cp:lastModifiedBy>Birger Fjaellman （フィエルマン ビルイェル）</cp:lastModifiedBy>
  <cp:revision>2</cp:revision>
  <dcterms:created xsi:type="dcterms:W3CDTF">2026-05-28T00:43:57Z</dcterms:created>
  <dcterms:modified xsi:type="dcterms:W3CDTF">2026-05-29T01:06:47Z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a27cab5-59e6-424d-abbb-227cd06504a3_Enabled">
    <vt:lpwstr>true</vt:lpwstr>
  </property>
  <property fmtid="{D5CDD505-2E9C-101B-9397-08002B2CF9AE}" pid="3" name="MSIP_Label_5a27cab5-59e6-424d-abbb-227cd06504a3_SetDate">
    <vt:lpwstr>2026-05-28T00:49:03Z</vt:lpwstr>
  </property>
  <property fmtid="{D5CDD505-2E9C-101B-9397-08002B2CF9AE}" pid="4" name="MSIP_Label_5a27cab5-59e6-424d-abbb-227cd06504a3_Method">
    <vt:lpwstr>Privileged</vt:lpwstr>
  </property>
  <property fmtid="{D5CDD505-2E9C-101B-9397-08002B2CF9AE}" pid="5" name="MSIP_Label_5a27cab5-59e6-424d-abbb-227cd06504a3_Name">
    <vt:lpwstr>INTERNAL v2</vt:lpwstr>
  </property>
  <property fmtid="{D5CDD505-2E9C-101B-9397-08002B2CF9AE}" pid="6" name="MSIP_Label_5a27cab5-59e6-424d-abbb-227cd06504a3_SiteId">
    <vt:lpwstr>5d3e2773-e07f-4432-a630-1a0f68a28a05</vt:lpwstr>
  </property>
  <property fmtid="{D5CDD505-2E9C-101B-9397-08002B2CF9AE}" pid="7" name="MSIP_Label_5a27cab5-59e6-424d-abbb-227cd06504a3_ActionId">
    <vt:lpwstr>fa66a6d0-dd7b-4d2b-b356-d65c18f4c669</vt:lpwstr>
  </property>
  <property fmtid="{D5CDD505-2E9C-101B-9397-08002B2CF9AE}" pid="8" name="MSIP_Label_5a27cab5-59e6-424d-abbb-227cd06504a3_ContentBits">
    <vt:lpwstr>2</vt:lpwstr>
  </property>
  <property fmtid="{D5CDD505-2E9C-101B-9397-08002B2CF9AE}" pid="9" name="MSIP_Label_5a27cab5-59e6-424d-abbb-227cd06504a3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</vt:lpwstr>
  </property>
</Properties>
</file>