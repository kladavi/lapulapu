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04"/>
  </p:normalViewPr>
  <p:slideViewPr>
    <p:cSldViewPr snapToGrid="0" snapToObjects="1">
      <p:cViewPr varScale="1">
        <p:scale>
          <a:sx n="120" d="100"/>
          <a:sy n="120" d="100"/>
        </p:scale>
        <p:origin x="4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F00194-A544-D95D-6DFF-E9D02003A26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71337" y="6672580"/>
            <a:ext cx="46990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JP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52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000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GOCC Lower Environment Support | Incident Analysis &amp; Drill-Down</a:t>
            </a:r>
          </a:p>
          <a:p>
            <a:pPr>
              <a:defRPr sz="900">
                <a:solidFill>
                  <a:srgbClr val="A5D6A7"/>
                </a:solidFill>
              </a:defRPr>
            </a:pPr>
            <a:r>
              <a:t>30 Jun - 14 Jul 2026 | 7 Issues | 86% Unresolved | Systemic Ansible Dependency Exposed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00000" y="580000"/>
            <a:ext cx="2150000" cy="50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333333"/>
                </a:solidFill>
              </a:defRPr>
            </a:pPr>
            <a:r>
              <a:t>Issues Raised</a:t>
            </a:r>
          </a:p>
          <a:p>
            <a:pPr algn="ctr">
              <a:defRPr sz="1600" b="1">
                <a:solidFill>
                  <a:srgbClr val="F57F17"/>
                </a:solidFill>
              </a:defRPr>
            </a:pPr>
            <a: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70000" y="580000"/>
            <a:ext cx="2150000" cy="50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333333"/>
                </a:solidFill>
              </a:defRPr>
            </a:pPr>
            <a:r>
              <a:t>Unresolved</a:t>
            </a:r>
          </a:p>
          <a:p>
            <a:pPr algn="ctr">
              <a:defRPr sz="1600" b="1">
                <a:solidFill>
                  <a:srgbClr val="C62828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40000" y="580000"/>
            <a:ext cx="2150000" cy="50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333333"/>
                </a:solidFill>
              </a:defRPr>
            </a:pPr>
            <a:r>
              <a:t>Ansible Failures</a:t>
            </a:r>
          </a:p>
          <a:p>
            <a:pPr algn="ctr">
              <a:defRPr sz="1600" b="1">
                <a:solidFill>
                  <a:srgbClr val="C62828"/>
                </a:solidFill>
              </a:defRPr>
            </a:pPr>
            <a:r>
              <a:t>71%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10000" y="580000"/>
            <a:ext cx="2150000" cy="50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333333"/>
                </a:solidFill>
              </a:defRPr>
            </a:pPr>
            <a:r>
              <a:t>Systems Affected</a:t>
            </a:r>
          </a:p>
          <a:p>
            <a:pPr algn="ctr">
              <a:defRPr sz="1600" b="1">
                <a:solidFill>
                  <a:srgbClr val="F57F17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0000" y="580000"/>
            <a:ext cx="2150000" cy="500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B7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700">
                <a:solidFill>
                  <a:srgbClr val="333333"/>
                </a:solidFill>
              </a:defRPr>
            </a:pPr>
            <a:r>
              <a:t>Test Impact (hrs)</a:t>
            </a:r>
          </a:p>
          <a:p>
            <a:pPr algn="ctr">
              <a:defRPr sz="1600" b="1">
                <a:solidFill>
                  <a:srgbClr val="B71C1C"/>
                </a:solidFill>
              </a:defRPr>
            </a:pPr>
            <a:r>
              <a:t>100+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00" y="1150000"/>
            <a:ext cx="8200000" cy="3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0000" y="1150000"/>
            <a:ext cx="50000" cy="340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340000" y="1220000"/>
            <a:ext cx="900000" cy="200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2E7D32"/>
                </a:solidFill>
              </a:defRPr>
            </a:pPr>
            <a:r>
              <a:t>RESOLVED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000" y="1170000"/>
            <a:ext cx="68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700" b="1">
                <a:solidFill>
                  <a:srgbClr val="1E88E5"/>
                </a:solidFill>
              </a:rPr>
              <a:t>INC08677136</a:t>
            </a:r>
            <a:r>
              <a:rPr sz="700">
                <a:solidFill>
                  <a:srgbClr val="757575"/>
                </a:solidFill>
              </a:rPr>
              <a:t>  30 Jun  |  </a:t>
            </a:r>
            <a:r>
              <a:rPr sz="800" b="1">
                <a:solidFill>
                  <a:srgbClr val="333333"/>
                </a:solidFill>
              </a:rPr>
              <a:t>SCV iPAD</a:t>
            </a:r>
            <a:r>
              <a:rPr sz="700">
                <a:solidFill>
                  <a:srgbClr val="333333"/>
                </a:solidFill>
              </a:rPr>
              <a:t>  -  Context root missing - URL inaccessible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000" y="1510000"/>
            <a:ext cx="8200000" cy="3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000" y="1510000"/>
            <a:ext cx="50000" cy="34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340000" y="1580000"/>
            <a:ext cx="900000" cy="2000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C62828"/>
                </a:solidFill>
              </a:defRPr>
            </a:pPr>
            <a:r>
              <a:t>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0000" y="1530000"/>
            <a:ext cx="68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700" b="1">
                <a:solidFill>
                  <a:srgbClr val="333333"/>
                </a:solidFill>
              </a:rPr>
              <a:t>TEM Dashboard</a:t>
            </a:r>
            <a:r>
              <a:rPr sz="700">
                <a:solidFill>
                  <a:srgbClr val="757575"/>
                </a:solidFill>
              </a:rPr>
              <a:t>  06 Jul  |  </a:t>
            </a:r>
            <a:r>
              <a:rPr sz="800" b="1">
                <a:solidFill>
                  <a:srgbClr val="333333"/>
                </a:solidFill>
              </a:rPr>
              <a:t>iWIN</a:t>
            </a:r>
            <a:r>
              <a:rPr sz="700">
                <a:solidFill>
                  <a:srgbClr val="333333"/>
                </a:solidFill>
              </a:rPr>
              <a:t>  -  URLs down - Ansible restart failed, needs MW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000" y="1870000"/>
            <a:ext cx="8200000" cy="3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0000" y="1870000"/>
            <a:ext cx="50000" cy="34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40000" y="1940000"/>
            <a:ext cx="900000" cy="2000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C62828"/>
                </a:solidFill>
              </a:defRPr>
            </a:pPr>
            <a:r>
              <a:t>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0000" y="1890000"/>
            <a:ext cx="68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700" b="1">
                <a:solidFill>
                  <a:srgbClr val="333333"/>
                </a:solidFill>
              </a:rPr>
              <a:t>TEM Dashboard</a:t>
            </a:r>
            <a:r>
              <a:rPr sz="700">
                <a:solidFill>
                  <a:srgbClr val="757575"/>
                </a:solidFill>
              </a:rPr>
              <a:t>  09 Jul  |  </a:t>
            </a:r>
            <a:r>
              <a:rPr sz="800" b="1">
                <a:solidFill>
                  <a:srgbClr val="333333"/>
                </a:solidFill>
              </a:rPr>
              <a:t>SCV UAT</a:t>
            </a:r>
            <a:r>
              <a:rPr sz="700">
                <a:solidFill>
                  <a:srgbClr val="333333"/>
                </a:solidFill>
              </a:rPr>
              <a:t>  -  URLs down - Ansible restart attempted, still failed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000" y="2230000"/>
            <a:ext cx="8200000" cy="3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0000" y="2230000"/>
            <a:ext cx="50000" cy="340000"/>
          </a:xfrm>
          <a:prstGeom prst="rect">
            <a:avLst/>
          </a:prstGeom>
          <a:solidFill>
            <a:srgbClr val="F5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40000" y="2300000"/>
            <a:ext cx="900000" cy="20000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F57F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57F17"/>
                </a:solidFill>
              </a:defRPr>
            </a:pPr>
            <a:r>
              <a:t>PARTIAL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000" y="2250000"/>
            <a:ext cx="68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700" b="1">
                <a:solidFill>
                  <a:srgbClr val="1E88E5"/>
                </a:solidFill>
              </a:rPr>
              <a:t>INC08707795</a:t>
            </a:r>
            <a:r>
              <a:rPr sz="700">
                <a:solidFill>
                  <a:srgbClr val="757575"/>
                </a:solidFill>
              </a:rPr>
              <a:t>  13 Jul  |  </a:t>
            </a:r>
            <a:r>
              <a:rPr sz="800" b="1">
                <a:solidFill>
                  <a:srgbClr val="333333"/>
                </a:solidFill>
              </a:rPr>
              <a:t>SCV/SSW</a:t>
            </a:r>
            <a:r>
              <a:rPr sz="700">
                <a:solidFill>
                  <a:srgbClr val="333333"/>
                </a:solidFill>
              </a:rPr>
              <a:t>  -  High CPU - server restart done, on-call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00" y="2590000"/>
            <a:ext cx="8200000" cy="3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0000" y="2590000"/>
            <a:ext cx="50000" cy="34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340000" y="2660000"/>
            <a:ext cx="900000" cy="2000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C62828"/>
                </a:solidFill>
              </a:defRPr>
            </a:pPr>
            <a:r>
              <a:t>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000" y="2610000"/>
            <a:ext cx="68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700" b="1">
                <a:solidFill>
                  <a:srgbClr val="333333"/>
                </a:solidFill>
              </a:rPr>
              <a:t>TEM Dashboard</a:t>
            </a:r>
            <a:r>
              <a:rPr sz="700">
                <a:solidFill>
                  <a:srgbClr val="757575"/>
                </a:solidFill>
              </a:rPr>
              <a:t>  14 Jul  |  </a:t>
            </a:r>
            <a:r>
              <a:rPr sz="800" b="1">
                <a:solidFill>
                  <a:srgbClr val="333333"/>
                </a:solidFill>
              </a:rPr>
              <a:t>PaWEB SIT2</a:t>
            </a:r>
            <a:r>
              <a:rPr sz="700">
                <a:solidFill>
                  <a:srgbClr val="333333"/>
                </a:solidFill>
              </a:rPr>
              <a:t>  -  URLs down - GOCC has no Ansible template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000" y="2950000"/>
            <a:ext cx="8200000" cy="3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0000" y="2950000"/>
            <a:ext cx="50000" cy="34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340000" y="3020000"/>
            <a:ext cx="900000" cy="2000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C62828"/>
                </a:solidFill>
              </a:defRPr>
            </a:pPr>
            <a:r>
              <a:t>OPEN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0000" y="2970000"/>
            <a:ext cx="68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700" b="1">
                <a:solidFill>
                  <a:srgbClr val="333333"/>
                </a:solidFill>
              </a:rPr>
              <a:t>TEM Dashboard</a:t>
            </a:r>
            <a:r>
              <a:rPr sz="700">
                <a:solidFill>
                  <a:srgbClr val="757575"/>
                </a:solidFill>
              </a:rPr>
              <a:t>  14 Jul  |  </a:t>
            </a:r>
            <a:r>
              <a:rPr sz="800" b="1">
                <a:solidFill>
                  <a:srgbClr val="333333"/>
                </a:solidFill>
              </a:rPr>
              <a:t>iWIN</a:t>
            </a:r>
            <a:r>
              <a:rPr sz="700">
                <a:solidFill>
                  <a:srgbClr val="333333"/>
                </a:solidFill>
              </a:rPr>
              <a:t>  -  URLs not up even after Ansible job triggered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000" y="3310000"/>
            <a:ext cx="8200000" cy="34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000" y="3310000"/>
            <a:ext cx="50000" cy="340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7340000" y="3380000"/>
            <a:ext cx="900000" cy="20000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C62828"/>
                </a:solidFill>
              </a:defRPr>
            </a:pPr>
            <a:r>
              <a:t>OPEN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0000" y="3330000"/>
            <a:ext cx="68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700" b="1">
                <a:solidFill>
                  <a:srgbClr val="1E88E5"/>
                </a:solidFill>
              </a:rPr>
              <a:t>INC08714334</a:t>
            </a:r>
            <a:r>
              <a:rPr sz="700">
                <a:solidFill>
                  <a:srgbClr val="757575"/>
                </a:solidFill>
              </a:rPr>
              <a:t>  14 Jul  |  </a:t>
            </a:r>
            <a:r>
              <a:rPr sz="800" b="1">
                <a:solidFill>
                  <a:srgbClr val="333333"/>
                </a:solidFill>
              </a:rPr>
              <a:t>AGW SIT1-6</a:t>
            </a:r>
            <a:r>
              <a:rPr sz="700">
                <a:solidFill>
                  <a:srgbClr val="333333"/>
                </a:solidFill>
              </a:rPr>
              <a:t>  -  All environments down - No Ansible template exists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00000" y="1150000"/>
            <a:ext cx="3600000" cy="28000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Executive Drill-Down Questions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50000" y="1460000"/>
            <a:ext cx="3500000" cy="3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700" b="1">
                <a:solidFill>
                  <a:srgbClr val="B71C1C"/>
                </a:solidFill>
              </a:rPr>
              <a:t>1. Capability Gap: </a:t>
            </a:r>
            <a:r>
              <a:rPr sz="700">
                <a:solidFill>
                  <a:srgbClr val="333333"/>
                </a:solidFill>
              </a:rPr>
              <a:t>Why does GOCC not have Ansible templates for 4 critical test systems? What is the timeline to transfer?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B71C1C"/>
                </a:solidFill>
              </a:rPr>
              <a:t>2. SLA &amp; Coverage: </a:t>
            </a:r>
            <a:r>
              <a:rPr sz="700">
                <a:solidFill>
                  <a:srgbClr val="333333"/>
                </a:solidFill>
              </a:rPr>
              <a:t>Is there a defined SLA for lower env recovery? What is acceptable downtime for test environments?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B71C1C"/>
                </a:solidFill>
              </a:rPr>
              <a:t>3. On-Call Model: </a:t>
            </a:r>
            <a:r>
              <a:rPr sz="700">
                <a:solidFill>
                  <a:srgbClr val="333333"/>
                </a:solidFill>
              </a:rPr>
              <a:t>Who owns on-call for lower envs on weekends? Why was on-call unavailable on 13-Jul?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B71C1C"/>
                </a:solidFill>
              </a:rPr>
              <a:t>4. Impact Quantification: </a:t>
            </a:r>
            <a:r>
              <a:rPr sz="700">
                <a:solidFill>
                  <a:srgbClr val="333333"/>
                </a:solidFill>
              </a:rPr>
              <a:t>How many test hours were lost across all projects due to these 7 outages?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B71C1C"/>
                </a:solidFill>
              </a:rPr>
              <a:t>5. Dependency Risk: </a:t>
            </a:r>
            <a:r>
              <a:rPr sz="700">
                <a:solidFill>
                  <a:srgbClr val="333333"/>
                </a:solidFill>
              </a:rPr>
              <a:t>If MW team is unavailable, what is the fallback path? Is there a single point of failure?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B71C1C"/>
                </a:solidFill>
              </a:rPr>
              <a:t>6. Recurring Pattern: </a:t>
            </a:r>
            <a:r>
              <a:rPr sz="700">
                <a:solidFill>
                  <a:srgbClr val="333333"/>
                </a:solidFill>
              </a:rPr>
              <a:t>Are these the same systems that failed previously? Is there a trend analysis?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B71C1C"/>
                </a:solidFill>
              </a:rPr>
              <a:t>7. Accountability: </a:t>
            </a:r>
            <a:r>
              <a:rPr sz="700">
                <a:solidFill>
                  <a:srgbClr val="333333"/>
                </a:solidFill>
              </a:rPr>
              <a:t>Who owns the decision to equip GOCC with full restart capability? What is blocking it?</a:t>
            </a:r>
          </a:p>
          <a:p>
            <a:pPr>
              <a:spcBef>
                <a:spcPts val="500"/>
              </a:spcBef>
            </a:pPr>
            <a:r>
              <a:rPr sz="700" b="1">
                <a:solidFill>
                  <a:srgbClr val="B71C1C"/>
                </a:solidFill>
              </a:rPr>
              <a:t>8. Cost of Inaction: </a:t>
            </a:r>
            <a:r>
              <a:rPr sz="700">
                <a:solidFill>
                  <a:srgbClr val="333333"/>
                </a:solidFill>
              </a:rPr>
              <a:t>What is the project schedule impact if this pattern continues for 4 more weeks?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000" y="5000000"/>
            <a:ext cx="5900000" cy="24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Systemic Root Cause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000" y="5260000"/>
            <a:ext cx="5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700">
                <a:solidFill>
                  <a:srgbClr val="333333"/>
                </a:solidFill>
              </a:defRPr>
            </a:pPr>
            <a:r>
              <a:t>  GOCC was set up to support production environments; lower env tooling (Ansible templates) was never provisioned</a:t>
            </a:r>
          </a:p>
          <a:p>
            <a:pPr>
              <a:spcBef>
                <a:spcPts val="400"/>
              </a:spcBef>
              <a:defRPr sz="700">
                <a:solidFill>
                  <a:srgbClr val="333333"/>
                </a:solidFill>
              </a:defRPr>
            </a:pPr>
            <a:r>
              <a:t>  No defined ownership model for lower environment availability across GOCC / MW / Project teams</a:t>
            </a:r>
          </a:p>
          <a:p>
            <a:pPr>
              <a:spcBef>
                <a:spcPts val="400"/>
              </a:spcBef>
              <a:defRPr sz="700">
                <a:solidFill>
                  <a:srgbClr val="333333"/>
                </a:solidFill>
              </a:defRPr>
            </a:pPr>
            <a:r>
              <a:t>  Ansible restart is a single recovery mechanism - when it fails, there is no self-service fallback</a:t>
            </a:r>
          </a:p>
          <a:p>
            <a:pPr>
              <a:spcBef>
                <a:spcPts val="400"/>
              </a:spcBef>
              <a:defRPr sz="700">
                <a:solidFill>
                  <a:srgbClr val="333333"/>
                </a:solidFill>
              </a:defRPr>
            </a:pPr>
            <a:r>
              <a:t>  TEM Dashboard alerts are raised but have no escalation timer or auto-routing to MW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00000" y="5000000"/>
            <a:ext cx="5900000" cy="240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000"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Immediate Actions (Next 2 Weeks)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50000" y="5260000"/>
            <a:ext cx="5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700">
                <a:solidFill>
                  <a:srgbClr val="333333"/>
                </a:solidFill>
              </a:defRPr>
            </a:pPr>
            <a:r>
              <a:t>  1. MW to transfer ALL Ansible templates for lower envs to GOCC (iWIN, PaWEB, AGW, SCV)</a:t>
            </a:r>
          </a:p>
          <a:p>
            <a:pPr>
              <a:spcBef>
                <a:spcPts val="400"/>
              </a:spcBef>
              <a:defRPr sz="700">
                <a:solidFill>
                  <a:srgbClr val="333333"/>
                </a:solidFill>
              </a:defRPr>
            </a:pPr>
            <a:r>
              <a:t>  2. Define and publish Lower Env SLA: target &lt;4hr recovery for critical test systems</a:t>
            </a:r>
          </a:p>
          <a:p>
            <a:pPr>
              <a:spcBef>
                <a:spcPts val="400"/>
              </a:spcBef>
              <a:defRPr sz="700">
                <a:solidFill>
                  <a:srgbClr val="333333"/>
                </a:solidFill>
              </a:defRPr>
            </a:pPr>
            <a:r>
              <a:t>  3. Establish auto-escalation from TEM Dashboard to MW if unresolved within 2 hours</a:t>
            </a:r>
          </a:p>
          <a:p>
            <a:pPr>
              <a:spcBef>
                <a:spcPts val="400"/>
              </a:spcBef>
              <a:defRPr sz="700">
                <a:solidFill>
                  <a:srgbClr val="333333"/>
                </a:solidFill>
              </a:defRPr>
            </a:pPr>
            <a:r>
              <a:t>  4. Assign clear ownership: GOCC owns restart, MW owns template maintenance, Project owns priority call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000" y="6150000"/>
            <a:ext cx="12000000" cy="3500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50000" rtlCol="0" anchor="ctr"/>
          <a:lstStyle/>
          <a:p>
            <a:pPr algn="ctr"/>
            <a:r>
              <a:rPr sz="800" b="1">
                <a:solidFill>
                  <a:srgbClr val="B71C1C"/>
                </a:solidFill>
              </a:rPr>
              <a:t>EXECUTIVE CALL TO ACTION: </a:t>
            </a:r>
            <a:r>
              <a:rPr sz="800">
                <a:solidFill>
                  <a:srgbClr val="333333"/>
                </a:solidFill>
              </a:rPr>
              <a:t>GOCC is structurally unable to recover 4 out of 5 affected systems independently. This is not a performance issue - it is a capability gap. Until Ansible templates are transferred, every lower env outage will require MW intervention, creating an unacceptable dependency for project delivery timelines.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0000" y="6600000"/>
            <a:ext cx="12000000" cy="1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>
                <a:solidFill>
                  <a:srgbClr val="999999"/>
                </a:solidFill>
              </a:defRPr>
            </a:pPr>
            <a:r>
              <a:t>Manulife Japan | GOCC Lower Environment Support Analysis | July 2026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566</Words>
  <Application>Microsoft Macintosh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Manish Kumar Kapil （カピル　 マニシュ　クマル）</cp:lastModifiedBy>
  <cp:revision>2</cp:revision>
  <dcterms:created xsi:type="dcterms:W3CDTF">2013-01-27T09:14:16Z</dcterms:created>
  <dcterms:modified xsi:type="dcterms:W3CDTF">2026-07-15T13:13:50Z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a27cab5-59e6-424d-abbb-227cd06504a3_Enabled">
    <vt:lpwstr>true</vt:lpwstr>
  </property>
  <property fmtid="{D5CDD505-2E9C-101B-9397-08002B2CF9AE}" pid="3" name="MSIP_Label_5a27cab5-59e6-424d-abbb-227cd06504a3_SetDate">
    <vt:lpwstr>2026-07-15T13:12:59Z</vt:lpwstr>
  </property>
  <property fmtid="{D5CDD505-2E9C-101B-9397-08002B2CF9AE}" pid="4" name="MSIP_Label_5a27cab5-59e6-424d-abbb-227cd06504a3_Method">
    <vt:lpwstr>Privileged</vt:lpwstr>
  </property>
  <property fmtid="{D5CDD505-2E9C-101B-9397-08002B2CF9AE}" pid="5" name="MSIP_Label_5a27cab5-59e6-424d-abbb-227cd06504a3_Name">
    <vt:lpwstr>INTERNAL v2</vt:lpwstr>
  </property>
  <property fmtid="{D5CDD505-2E9C-101B-9397-08002B2CF9AE}" pid="6" name="MSIP_Label_5a27cab5-59e6-424d-abbb-227cd06504a3_SiteId">
    <vt:lpwstr>5d3e2773-e07f-4432-a630-1a0f68a28a05</vt:lpwstr>
  </property>
  <property fmtid="{D5CDD505-2E9C-101B-9397-08002B2CF9AE}" pid="7" name="MSIP_Label_5a27cab5-59e6-424d-abbb-227cd06504a3_ActionId">
    <vt:lpwstr>efbadacb-b9f3-48a4-8122-816b9c58b120</vt:lpwstr>
  </property>
  <property fmtid="{D5CDD505-2E9C-101B-9397-08002B2CF9AE}" pid="8" name="MSIP_Label_5a27cab5-59e6-424d-abbb-227cd06504a3_ContentBits">
    <vt:lpwstr>2</vt:lpwstr>
  </property>
  <property fmtid="{D5CDD505-2E9C-101B-9397-08002B2CF9AE}" pid="9" name="MSIP_Label_5a27cab5-59e6-424d-abbb-227cd06504a3_Tag">
    <vt:lpwstr>50, 0, 1, 1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</vt:lpwstr>
  </property>
</Properties>
</file>